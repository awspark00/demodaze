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1573" r:id="rId5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erasinghe, Josh" initials="WJ" lastIdx="1" clrIdx="0">
    <p:extLst>
      <p:ext uri="{19B8F6BF-5375-455C-9EA6-DF929625EA0E}">
        <p15:presenceInfo xmlns:p15="http://schemas.microsoft.com/office/powerpoint/2012/main" userId="S-1-5-21-1407069837-2091007605-538272213-4827887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2070"/>
    <a:srgbClr val="BC1B91"/>
    <a:srgbClr val="5D36B9"/>
    <a:srgbClr val="983EC4"/>
    <a:srgbClr val="8E3FCF"/>
    <a:srgbClr val="9732C0"/>
    <a:srgbClr val="AC24A7"/>
    <a:srgbClr val="CC2877"/>
    <a:srgbClr val="431387"/>
    <a:srgbClr val="743B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5A44FA-9942-5545-C360-7D9EBB74BBAE}" v="58" dt="2025-12-08T14:47:22.017"/>
    <p1510:client id="{BFA776DD-0FBF-20C1-E004-4C030CACAE67}" v="6" dt="2025-12-08T14:52:01.057"/>
  </p1510:revLst>
</p1510:revInfo>
</file>

<file path=ppt/tableStyles.xml><?xml version="1.0" encoding="utf-8"?>
<a:tblStyleLst xmlns:a="http://schemas.openxmlformats.org/drawingml/2006/main" def="{5C22544A-7EE6-4342-B048-85BDC9FD1C3A}"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64" autoAdjust="0"/>
    <p:restoredTop sz="95315" autoAdjust="0"/>
  </p:normalViewPr>
  <p:slideViewPr>
    <p:cSldViewPr snapToGrid="0">
      <p:cViewPr varScale="1">
        <p:scale>
          <a:sx n="63" d="100"/>
          <a:sy n="63" d="100"/>
        </p:scale>
        <p:origin x="26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40FDAB-3B9F-B84E-80EF-03C3AC0DA40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DAC6E-E4B7-324D-B055-17DC168A7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89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A6EF3-A1A7-4EA4-A266-4F810EE35540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9EDA-8C07-40AA-9529-9254A2B5F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730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A6EF3-A1A7-4EA4-A266-4F810EE35540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9EDA-8C07-40AA-9529-9254A2B5F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88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A6EF3-A1A7-4EA4-A266-4F810EE35540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9EDA-8C07-40AA-9529-9254A2B5F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77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A6EF3-A1A7-4EA4-A266-4F810EE35540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9EDA-8C07-40AA-9529-9254A2B5F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66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A6EF3-A1A7-4EA4-A266-4F810EE35540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9EDA-8C07-40AA-9529-9254A2B5F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20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A6EF3-A1A7-4EA4-A266-4F810EE35540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9EDA-8C07-40AA-9529-9254A2B5F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723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A6EF3-A1A7-4EA4-A266-4F810EE35540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9EDA-8C07-40AA-9529-9254A2B5F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35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A6EF3-A1A7-4EA4-A266-4F810EE35540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9EDA-8C07-40AA-9529-9254A2B5F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81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A6EF3-A1A7-4EA4-A266-4F810EE35540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9EDA-8C07-40AA-9529-9254A2B5F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66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A6EF3-A1A7-4EA4-A266-4F810EE35540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9EDA-8C07-40AA-9529-9254A2B5F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809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A6EF3-A1A7-4EA4-A266-4F810EE35540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9EDA-8C07-40AA-9529-9254A2B5F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405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3EF2D6-A6E7-48E4-A694-93049920C1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6200" y="-944880"/>
            <a:ext cx="7884160" cy="3378852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9A36B7-963B-8C43-A97F-74A771EFBB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469900"/>
            <a:ext cx="5880847" cy="443198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3200" b="0" i="0">
                <a:solidFill>
                  <a:schemeClr val="bg1"/>
                </a:solidFill>
                <a:latin typeface="Amazon Ember Heavy" panose="020B0603020204020204" pitchFamily="34" charset="0"/>
                <a:ea typeface="Amazon Ember Heavy" panose="020B0603020204020204" pitchFamily="34" charset="0"/>
                <a:cs typeface="Amazon Ember Heavy" panose="020B06030202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None/>
              <a:defRPr sz="2400" b="1" i="0">
                <a:latin typeface="Amazon Ember Heavy" panose="020B0603020204020204" pitchFamily="34" charset="0"/>
                <a:ea typeface="Amazon Ember Heavy" panose="020B0603020204020204" pitchFamily="34" charset="0"/>
                <a:cs typeface="Amazon Ember Heavy" panose="020B0603020204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None/>
              <a:defRPr sz="14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3pPr>
            <a:lvl4pPr marL="182880" indent="-18288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0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4pPr>
            <a:lvl5pPr>
              <a:lnSpc>
                <a:spcPct val="100000"/>
              </a:lnSpc>
              <a:defRPr sz="10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5pPr>
          </a:lstStyle>
          <a:p>
            <a:pPr lvl="0"/>
            <a:r>
              <a:rPr lang="en-US" dirty="0"/>
              <a:t>&lt;Offering name&gt;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47B71-C067-014D-988F-557FD3472528}"/>
              </a:ext>
            </a:extLst>
          </p:cNvPr>
          <p:cNvSpPr txBox="1"/>
          <p:nvPr userDrawn="1"/>
        </p:nvSpPr>
        <p:spPr>
          <a:xfrm>
            <a:off x="134078" y="9855946"/>
            <a:ext cx="324774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2025, </a:t>
            </a:r>
            <a:r>
              <a:rPr lang="en-US" sz="800" spc="-4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</a:t>
            </a:r>
            <a:r>
              <a:rPr lang="en-US" sz="800" spc="-9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Web </a:t>
            </a:r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Services, Inc. or its </a:t>
            </a:r>
            <a:r>
              <a:rPr lang="en-US" sz="800" spc="-4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affiliates. </a:t>
            </a:r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All rights reserved.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FE02AF4-8088-624A-BE8A-F9B6D564C0CE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59708"/>
            <a:ext cx="7315200" cy="0"/>
          </a:xfrm>
          <a:prstGeom prst="line">
            <a:avLst/>
          </a:prstGeom>
          <a:ln w="152400">
            <a:solidFill>
              <a:srgbClr val="5D36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3D25BDE-BE07-5147-B642-ED69964AF7CA}"/>
              </a:ext>
            </a:extLst>
          </p:cNvPr>
          <p:cNvSpPr txBox="1"/>
          <p:nvPr userDrawn="1"/>
        </p:nvSpPr>
        <p:spPr>
          <a:xfrm>
            <a:off x="421640" y="2072641"/>
            <a:ext cx="2842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Powered by AWS</a:t>
            </a:r>
          </a:p>
          <a:p>
            <a:pPr algn="r"/>
            <a:endParaRPr lang="en-US" sz="1200" dirty="0">
              <a:solidFill>
                <a:schemeClr val="bg1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CB3DCE-A1CC-6748-85B4-2A588BD480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926" y="9626118"/>
            <a:ext cx="557396" cy="33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31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>
          <p15:clr>
            <a:srgbClr val="FBAE40"/>
          </p15:clr>
        </p15:guide>
        <p15:guide id="2" pos="2448">
          <p15:clr>
            <a:srgbClr val="FBAE40"/>
          </p15:clr>
        </p15:guide>
        <p15:guide id="3" pos="288">
          <p15:clr>
            <a:srgbClr val="FBAE40"/>
          </p15:clr>
        </p15:guide>
        <p15:guide id="4" orient="horz" pos="288">
          <p15:clr>
            <a:srgbClr val="FBAE40"/>
          </p15:clr>
        </p15:guide>
        <p15:guide id="5" pos="4608">
          <p15:clr>
            <a:srgbClr val="FBAE40"/>
          </p15:clr>
        </p15:guide>
        <p15:guide id="6" orient="horz" pos="60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A6EF3-A1A7-4EA4-A266-4F810EE35540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29EDA-8C07-40AA-9529-9254A2B5FD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247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57195B4-A660-8D43-9785-6673C459F36D}"/>
              </a:ext>
            </a:extLst>
          </p:cNvPr>
          <p:cNvSpPr txBox="1"/>
          <p:nvPr/>
        </p:nvSpPr>
        <p:spPr>
          <a:xfrm>
            <a:off x="464446" y="6805630"/>
            <a:ext cx="855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222F3E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Features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3F5078B-793C-A04A-BE77-166D3A80AE0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01608F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651958" y="4278406"/>
            <a:ext cx="680364" cy="6494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7CDF735-9C6C-E54E-9215-F265C5D039D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1608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55117" y="2862336"/>
            <a:ext cx="682506" cy="69767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8BF0439-7D72-1442-89B5-DC4464687A5C}"/>
              </a:ext>
            </a:extLst>
          </p:cNvPr>
          <p:cNvSpPr txBox="1"/>
          <p:nvPr/>
        </p:nvSpPr>
        <p:spPr>
          <a:xfrm>
            <a:off x="433420" y="3770092"/>
            <a:ext cx="2719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5D36B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Solution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B8282B2-7FDC-4947-9177-C5564972A2AD}"/>
              </a:ext>
            </a:extLst>
          </p:cNvPr>
          <p:cNvCxnSpPr>
            <a:cxnSpLocks/>
          </p:cNvCxnSpPr>
          <p:nvPr/>
        </p:nvCxnSpPr>
        <p:spPr>
          <a:xfrm>
            <a:off x="228600" y="5435882"/>
            <a:ext cx="7315200" cy="0"/>
          </a:xfrm>
          <a:prstGeom prst="line">
            <a:avLst/>
          </a:prstGeom>
          <a:ln w="152400">
            <a:solidFill>
              <a:srgbClr val="5D36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25C313D-3A9B-48B8-A2BF-40A27B396773}"/>
              </a:ext>
            </a:extLst>
          </p:cNvPr>
          <p:cNvSpPr txBox="1"/>
          <p:nvPr/>
        </p:nvSpPr>
        <p:spPr>
          <a:xfrm>
            <a:off x="464446" y="2491667"/>
            <a:ext cx="2719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5D36B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Problem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430307-AE62-4EF7-83D0-338E90D09A12}"/>
              </a:ext>
            </a:extLst>
          </p:cNvPr>
          <p:cNvSpPr txBox="1"/>
          <p:nvPr/>
        </p:nvSpPr>
        <p:spPr>
          <a:xfrm>
            <a:off x="1359552" y="3838301"/>
            <a:ext cx="5780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222F3E"/>
                </a:solidFill>
                <a:latin typeface="Amazon Ember" panose="020B0603020204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XXXXX</a:t>
            </a:r>
            <a:endParaRPr lang="en-US" sz="1000" dirty="0">
              <a:solidFill>
                <a:srgbClr val="222F3E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E42D51-3DC1-43ED-A09D-CFFBE33BC648}"/>
              </a:ext>
            </a:extLst>
          </p:cNvPr>
          <p:cNvCxnSpPr>
            <a:cxnSpLocks/>
          </p:cNvCxnSpPr>
          <p:nvPr/>
        </p:nvCxnSpPr>
        <p:spPr>
          <a:xfrm>
            <a:off x="228600" y="7702440"/>
            <a:ext cx="7315200" cy="0"/>
          </a:xfrm>
          <a:prstGeom prst="line">
            <a:avLst/>
          </a:prstGeom>
          <a:ln w="152400">
            <a:solidFill>
              <a:srgbClr val="5D36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6DA389C-0EAC-4981-85F1-8916D8757D63}"/>
              </a:ext>
            </a:extLst>
          </p:cNvPr>
          <p:cNvSpPr txBox="1"/>
          <p:nvPr/>
        </p:nvSpPr>
        <p:spPr>
          <a:xfrm>
            <a:off x="1364853" y="2571594"/>
            <a:ext cx="5880847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1100" dirty="0">
              <a:latin typeface="Amazon Ember" panose="020B06030202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A003AD-4D9D-4C5C-A0DB-8CD1B752A6E5}"/>
              </a:ext>
            </a:extLst>
          </p:cNvPr>
          <p:cNvSpPr txBox="1"/>
          <p:nvPr/>
        </p:nvSpPr>
        <p:spPr>
          <a:xfrm>
            <a:off x="1496055" y="6817849"/>
            <a:ext cx="5749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XXXXX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XXXXX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XXXXX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222F3E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B9CF48-832B-4122-8EBA-8788E09688AC}"/>
              </a:ext>
            </a:extLst>
          </p:cNvPr>
          <p:cNvSpPr txBox="1"/>
          <p:nvPr/>
        </p:nvSpPr>
        <p:spPr>
          <a:xfrm>
            <a:off x="1541578" y="5543869"/>
            <a:ext cx="3754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5D36B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What are the Benefits and Features?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A6F4ED-4EBA-4C28-9CE1-B1137E2B465D}"/>
              </a:ext>
            </a:extLst>
          </p:cNvPr>
          <p:cNvSpPr txBox="1"/>
          <p:nvPr/>
        </p:nvSpPr>
        <p:spPr>
          <a:xfrm>
            <a:off x="170729" y="8106823"/>
            <a:ext cx="1642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D36B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Who do I contact?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1B19D6-45C9-4685-A853-6A13F29226D8}"/>
              </a:ext>
            </a:extLst>
          </p:cNvPr>
          <p:cNvSpPr txBox="1"/>
          <p:nvPr/>
        </p:nvSpPr>
        <p:spPr>
          <a:xfrm>
            <a:off x="433420" y="6022502"/>
            <a:ext cx="855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222F3E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Benefits</a:t>
            </a:r>
          </a:p>
        </p:txBody>
      </p: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B5666895-A811-4FA1-9CED-FDB3D097F13B}"/>
              </a:ext>
            </a:extLst>
          </p:cNvPr>
          <p:cNvSpPr txBox="1">
            <a:spLocks/>
          </p:cNvSpPr>
          <p:nvPr/>
        </p:nvSpPr>
        <p:spPr>
          <a:xfrm>
            <a:off x="390786" y="573000"/>
            <a:ext cx="5880847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l" defTabSz="77724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bg1"/>
                </a:solidFill>
                <a:latin typeface="Amazon Ember Heavy" panose="020B0603020204020204" pitchFamily="34" charset="0"/>
                <a:ea typeface="Amazon Ember Heavy" panose="020B0603020204020204" pitchFamily="34" charset="0"/>
                <a:cs typeface="Amazon Ember Heavy" panose="020B0603020204020204" pitchFamily="34" charset="0"/>
              </a:defRPr>
            </a:lvl1pPr>
            <a:lvl2pPr marL="0" indent="0" algn="l" defTabSz="77724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Amazon Ember Heavy" panose="020B0603020204020204" pitchFamily="34" charset="0"/>
                <a:ea typeface="Amazon Ember Heavy" panose="020B0603020204020204" pitchFamily="34" charset="0"/>
                <a:cs typeface="Amazon Ember Heavy" panose="020B0603020204020204" pitchFamily="34" charset="0"/>
              </a:defRPr>
            </a:lvl2pPr>
            <a:lvl3pPr marL="0" indent="0" algn="l" defTabSz="77724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3pPr>
            <a:lvl4pPr marL="182880" indent="-182880" algn="l" defTabSz="77724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4pPr>
            <a:lvl5pPr marL="1748790" indent="-194310" algn="l" defTabSz="777240" rtl="0" eaLnBrk="1" latinLnBrk="0" hangingPunct="1">
              <a:lnSpc>
                <a:spcPct val="10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mazon Ember Heavy"/>
              </a:rPr>
              <a:t>&lt;NAME&gt;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C27F34-52B1-4EA7-8C4D-CC46FBC5F78D}"/>
              </a:ext>
            </a:extLst>
          </p:cNvPr>
          <p:cNvSpPr/>
          <p:nvPr/>
        </p:nvSpPr>
        <p:spPr>
          <a:xfrm>
            <a:off x="1663700" y="8148199"/>
            <a:ext cx="54102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Point of Contact for a Demo:  &lt;email address&gt;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E146A-7C2E-4BB2-98AD-EA8395800657}"/>
              </a:ext>
            </a:extLst>
          </p:cNvPr>
          <p:cNvSpPr txBox="1"/>
          <p:nvPr/>
        </p:nvSpPr>
        <p:spPr>
          <a:xfrm>
            <a:off x="1499750" y="5814477"/>
            <a:ext cx="624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XXXX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XXXX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XXXX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D4942C-95D2-4323-913E-012525D2A81B}"/>
              </a:ext>
            </a:extLst>
          </p:cNvPr>
          <p:cNvSpPr txBox="1"/>
          <p:nvPr/>
        </p:nvSpPr>
        <p:spPr>
          <a:xfrm>
            <a:off x="170729" y="8814191"/>
            <a:ext cx="16428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D36B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Where do I find additional details?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E96184-BFB1-42DD-8D34-2F7FC6223C33}"/>
              </a:ext>
            </a:extLst>
          </p:cNvPr>
          <p:cNvSpPr/>
          <p:nvPr/>
        </p:nvSpPr>
        <p:spPr>
          <a:xfrm>
            <a:off x="1663700" y="8855567"/>
            <a:ext cx="54102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Link to demo/repo/</a:t>
            </a:r>
            <a:r>
              <a:rPr lang="en-US" sz="1000" dirty="0" err="1">
                <a:solidFill>
                  <a:prstClr val="black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etc</a:t>
            </a:r>
            <a:endParaRPr lang="en-US" sz="1000" dirty="0">
              <a:solidFill>
                <a:prstClr val="black"/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36444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46C364D405574AA4D6EC8759B61766" ma:contentTypeVersion="11" ma:contentTypeDescription="Create a new document." ma:contentTypeScope="" ma:versionID="e3ab32b59c0067f700f289c585af2500">
  <xsd:schema xmlns:xsd="http://www.w3.org/2001/XMLSchema" xmlns:xs="http://www.w3.org/2001/XMLSchema" xmlns:p="http://schemas.microsoft.com/office/2006/metadata/properties" xmlns:ns2="da37491f-17e8-4aa4-b8b2-c9e92f566c24" xmlns:ns3="3af57dd3-c7a8-417e-98b8-90248abe0734" targetNamespace="http://schemas.microsoft.com/office/2006/metadata/properties" ma:root="true" ma:fieldsID="1e56e08a026d9eb8d2ba46f5f2a763c4" ns2:_="" ns3:_="">
    <xsd:import namespace="da37491f-17e8-4aa4-b8b2-c9e92f566c24"/>
    <xsd:import namespace="3af57dd3-c7a8-417e-98b8-90248abe07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37491f-17e8-4aa4-b8b2-c9e92f566c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7839dc8-c537-42b6-a5a9-a537040d25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f57dd3-c7a8-417e-98b8-90248abe073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709d1e-838a-4d83-b26c-9f7407000842}" ma:internalName="TaxCatchAll" ma:showField="CatchAllData" ma:web="3af57dd3-c7a8-417e-98b8-90248abe07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af57dd3-c7a8-417e-98b8-90248abe0734" xsi:nil="true"/>
    <lcf76f155ced4ddcb4097134ff3c332f xmlns="da37491f-17e8-4aa4-b8b2-c9e92f566c2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992C382-42C7-4BF1-998A-60BB6D3798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636590-2B19-4656-A1B2-548552020A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37491f-17e8-4aa4-b8b2-c9e92f566c24"/>
    <ds:schemaRef ds:uri="3af57dd3-c7a8-417e-98b8-90248abe07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1722DB1-33BE-4677-B423-644C7E005BAF}">
  <ds:schemaRefs>
    <ds:schemaRef ds:uri="http://schemas.microsoft.com/office/2006/metadata/properties"/>
    <ds:schemaRef ds:uri="http://schemas.microsoft.com/office/infopath/2007/PartnerControls"/>
    <ds:schemaRef ds:uri="3af57dd3-c7a8-417e-98b8-90248abe0734"/>
    <ds:schemaRef ds:uri="da37491f-17e8-4aa4-b8b2-c9e92f566c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36622</TotalTime>
  <Words>52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Francois Patricot</dc:creator>
  <cp:lastModifiedBy>Robinson, Kurt</cp:lastModifiedBy>
  <cp:revision>480</cp:revision>
  <dcterms:created xsi:type="dcterms:W3CDTF">2018-05-29T22:25:03Z</dcterms:created>
  <dcterms:modified xsi:type="dcterms:W3CDTF">2026-01-05T11:39:44Z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2025-12-04T21:46:53Z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ba586c13-436d-4dc0-8db0-28d5963f2379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  <property fmtid="{D5CDD505-2E9C-101B-9397-08002B2CF9AE}" pid="10" name="ContentTypeId">
    <vt:lpwstr>0x0101003346C364D405574AA4D6EC8759B61766</vt:lpwstr>
  </property>
  <property fmtid="{D5CDD505-2E9C-101B-9397-08002B2CF9AE}" pid="11" name="MediaServiceImageTags">
    <vt:lpwstr/>
  </property>
</Properties>
</file>