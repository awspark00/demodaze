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1573" r:id="rId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erasinghe, Josh" initials="WJ" lastIdx="1" clrIdx="0">
    <p:extLst>
      <p:ext uri="{19B8F6BF-5375-455C-9EA6-DF929625EA0E}">
        <p15:presenceInfo xmlns:p15="http://schemas.microsoft.com/office/powerpoint/2012/main" userId="S-1-5-21-1407069837-2091007605-538272213-482788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2070"/>
    <a:srgbClr val="BC1B91"/>
    <a:srgbClr val="5D36B9"/>
    <a:srgbClr val="983EC4"/>
    <a:srgbClr val="8E3FCF"/>
    <a:srgbClr val="9732C0"/>
    <a:srgbClr val="AC24A7"/>
    <a:srgbClr val="CC2877"/>
    <a:srgbClr val="431387"/>
    <a:srgbClr val="743B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5A44FA-9942-5545-C360-7D9EBB74BBAE}" v="58" dt="2025-12-08T14:47:22.017"/>
    <p1510:client id="{BFA776DD-0FBF-20C1-E004-4C030CACAE67}" v="6" dt="2025-12-08T14:52:01.057"/>
  </p1510:revLst>
</p1510:revInfo>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5315" autoAdjust="0"/>
  </p:normalViewPr>
  <p:slideViewPr>
    <p:cSldViewPr snapToGrid="0">
      <p:cViewPr>
        <p:scale>
          <a:sx n="125" d="100"/>
          <a:sy n="125" d="100"/>
        </p:scale>
        <p:origin x="392" y="-38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0FDAB-3B9F-B84E-80EF-03C3AC0DA409}" type="datetimeFigureOut">
              <a:rPr lang="en-US" smtClean="0"/>
              <a:t>1/5/2026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DAC6E-E4B7-324D-B055-17DC168A7372}" type="slidenum">
              <a:rPr lang="en-US" smtClean="0"/>
              <a:t>‹#›</a:t>
            </a:fld>
            <a:endParaRPr lang="en-US"/>
          </a:p>
        </p:txBody>
      </p:sp>
    </p:spTree>
    <p:extLst>
      <p:ext uri="{BB962C8B-B14F-4D97-AF65-F5344CB8AC3E}">
        <p14:creationId xmlns:p14="http://schemas.microsoft.com/office/powerpoint/2010/main" val="478289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3023730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2249882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62177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83066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298020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3122723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417335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367918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dirty="0"/>
              <a:t>Click icon to add picture</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2719669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623809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CA6EF3-A1A7-4EA4-A266-4F810EE35540}"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29EDA-8C07-40AA-9529-9254A2B5FD41}" type="slidenum">
              <a:rPr lang="en-US" smtClean="0"/>
              <a:t>‹#›</a:t>
            </a:fld>
            <a:endParaRPr lang="en-US" dirty="0"/>
          </a:p>
        </p:txBody>
      </p:sp>
    </p:spTree>
    <p:extLst>
      <p:ext uri="{BB962C8B-B14F-4D97-AF65-F5344CB8AC3E}">
        <p14:creationId xmlns:p14="http://schemas.microsoft.com/office/powerpoint/2010/main" val="3910405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3EF2D6-A6E7-48E4-A694-93049920C1AB}"/>
              </a:ext>
            </a:extLst>
          </p:cNvPr>
          <p:cNvPicPr>
            <a:picLocks noChangeAspect="1"/>
          </p:cNvPicPr>
          <p:nvPr userDrawn="1"/>
        </p:nvPicPr>
        <p:blipFill>
          <a:blip r:embed="rId2"/>
          <a:stretch>
            <a:fillRect/>
          </a:stretch>
        </p:blipFill>
        <p:spPr>
          <a:xfrm>
            <a:off x="-76200" y="-944880"/>
            <a:ext cx="7884160" cy="3378852"/>
          </a:xfrm>
          <a:prstGeom prst="rect">
            <a:avLst/>
          </a:prstGeom>
        </p:spPr>
      </p:pic>
      <p:sp>
        <p:nvSpPr>
          <p:cNvPr id="8" name="Text Placeholder 7">
            <a:extLst>
              <a:ext uri="{FF2B5EF4-FFF2-40B4-BE49-F238E27FC236}">
                <a16:creationId xmlns:a16="http://schemas.microsoft.com/office/drawing/2014/main" id="{8A9A36B7-963B-8C43-A97F-74A771EFBBD3}"/>
              </a:ext>
            </a:extLst>
          </p:cNvPr>
          <p:cNvSpPr>
            <a:spLocks noGrp="1"/>
          </p:cNvSpPr>
          <p:nvPr>
            <p:ph type="body" sz="quarter" idx="11" hasCustomPrompt="1"/>
          </p:nvPr>
        </p:nvSpPr>
        <p:spPr>
          <a:xfrm>
            <a:off x="457199" y="469900"/>
            <a:ext cx="5880847" cy="443198"/>
          </a:xfrm>
        </p:spPr>
        <p:txBody>
          <a:bodyPr wrap="square" lIns="0" tIns="0" rIns="0" bIns="0">
            <a:spAutoFit/>
          </a:bodyPr>
          <a:lstStyle>
            <a:lvl1pPr marL="0" indent="0">
              <a:spcBef>
                <a:spcPts val="0"/>
              </a:spcBef>
              <a:buNone/>
              <a:defRPr sz="3200" b="0" i="0">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marL="0" indent="0">
              <a:lnSpc>
                <a:spcPct val="90000"/>
              </a:lnSpc>
              <a:spcBef>
                <a:spcPts val="0"/>
              </a:spcBef>
              <a:buNone/>
              <a:defRPr sz="2400" b="1" i="0">
                <a:latin typeface="Amazon Ember Heavy" panose="020B0603020204020204" pitchFamily="34" charset="0"/>
                <a:ea typeface="Amazon Ember Heavy" panose="020B0603020204020204" pitchFamily="34" charset="0"/>
                <a:cs typeface="Amazon Ember Heavy" panose="020B0603020204020204" pitchFamily="34" charset="0"/>
              </a:defRPr>
            </a:lvl2pPr>
            <a:lvl3pPr marL="0" indent="0">
              <a:lnSpc>
                <a:spcPct val="100000"/>
              </a:lnSpc>
              <a:spcBef>
                <a:spcPts val="1200"/>
              </a:spcBef>
              <a:spcAft>
                <a:spcPts val="300"/>
              </a:spcAft>
              <a:buNone/>
              <a:defRPr sz="1400">
                <a:latin typeface="Amazon Ember" panose="020B0603020204020204" pitchFamily="34" charset="0"/>
                <a:ea typeface="Amazon Ember" panose="020B0603020204020204" pitchFamily="34" charset="0"/>
                <a:cs typeface="Amazon Ember" panose="020B0603020204020204" pitchFamily="34" charset="0"/>
              </a:defRPr>
            </a:lvl3pPr>
            <a:lvl4pPr marL="182880" indent="-182880">
              <a:lnSpc>
                <a:spcPct val="100000"/>
              </a:lnSpc>
              <a:spcBef>
                <a:spcPts val="300"/>
              </a:spcBef>
              <a:buFont typeface="Arial" panose="020B0604020202020204" pitchFamily="34" charset="0"/>
              <a:buChar char="•"/>
              <a:defRPr sz="1000">
                <a:latin typeface="Amazon Ember" panose="020B0603020204020204" pitchFamily="34" charset="0"/>
                <a:ea typeface="Amazon Ember" panose="020B0603020204020204" pitchFamily="34" charset="0"/>
                <a:cs typeface="Amazon Ember" panose="020B0603020204020204" pitchFamily="34" charset="0"/>
              </a:defRPr>
            </a:lvl4pPr>
            <a:lvl5pPr>
              <a:lnSpc>
                <a:spcPct val="100000"/>
              </a:lnSpc>
              <a:defRPr sz="1000">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&lt;Offering name&gt;</a:t>
            </a:r>
          </a:p>
        </p:txBody>
      </p:sp>
      <p:sp>
        <p:nvSpPr>
          <p:cNvPr id="4" name="TextBox 3">
            <a:extLst>
              <a:ext uri="{FF2B5EF4-FFF2-40B4-BE49-F238E27FC236}">
                <a16:creationId xmlns:a16="http://schemas.microsoft.com/office/drawing/2014/main" id="{1F647B71-C067-014D-988F-557FD3472528}"/>
              </a:ext>
            </a:extLst>
          </p:cNvPr>
          <p:cNvSpPr txBox="1"/>
          <p:nvPr userDrawn="1"/>
        </p:nvSpPr>
        <p:spPr>
          <a:xfrm>
            <a:off x="134078" y="9855946"/>
            <a:ext cx="3247749"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mazon Ember" panose="020B0603020204020204" pitchFamily="34" charset="0"/>
                <a:ea typeface="Amazon Ember" panose="020B0603020204020204" pitchFamily="34" charset="0"/>
                <a:cs typeface="Amazon Ember" panose="020B0603020204020204" pitchFamily="34" charset="0"/>
              </a:rPr>
              <a:t>© 2025, </a:t>
            </a:r>
            <a:r>
              <a:rPr lang="en-US" sz="800" spc="-4" dirty="0">
                <a:latin typeface="Amazon Ember" panose="020B0603020204020204" pitchFamily="34" charset="0"/>
                <a:ea typeface="Amazon Ember" panose="020B0603020204020204" pitchFamily="34" charset="0"/>
                <a:cs typeface="Amazon Ember" panose="020B0603020204020204" pitchFamily="34" charset="0"/>
              </a:rPr>
              <a:t>Amazon </a:t>
            </a:r>
            <a:r>
              <a:rPr lang="en-US" sz="800" spc="-9" dirty="0">
                <a:latin typeface="Amazon Ember" panose="020B0603020204020204" pitchFamily="34" charset="0"/>
                <a:ea typeface="Amazon Ember" panose="020B0603020204020204" pitchFamily="34" charset="0"/>
                <a:cs typeface="Amazon Ember" panose="020B0603020204020204" pitchFamily="34" charset="0"/>
              </a:rPr>
              <a:t>Web </a:t>
            </a:r>
            <a:r>
              <a:rPr lang="en-US" sz="800" dirty="0">
                <a:latin typeface="Amazon Ember" panose="020B0603020204020204" pitchFamily="34" charset="0"/>
                <a:ea typeface="Amazon Ember" panose="020B0603020204020204" pitchFamily="34" charset="0"/>
                <a:cs typeface="Amazon Ember" panose="020B0603020204020204" pitchFamily="34" charset="0"/>
              </a:rPr>
              <a:t>Services, Inc. or its </a:t>
            </a:r>
            <a:r>
              <a:rPr lang="en-US" sz="800" spc="-4" dirty="0">
                <a:latin typeface="Amazon Ember" panose="020B0603020204020204" pitchFamily="34" charset="0"/>
                <a:ea typeface="Amazon Ember" panose="020B0603020204020204" pitchFamily="34" charset="0"/>
                <a:cs typeface="Amazon Ember" panose="020B0603020204020204" pitchFamily="34" charset="0"/>
              </a:rPr>
              <a:t>affiliates. </a:t>
            </a:r>
            <a:r>
              <a:rPr lang="en-US" sz="800" dirty="0">
                <a:latin typeface="Amazon Ember" panose="020B0603020204020204" pitchFamily="34" charset="0"/>
                <a:ea typeface="Amazon Ember" panose="020B0603020204020204" pitchFamily="34" charset="0"/>
                <a:cs typeface="Amazon Ember" panose="020B0603020204020204" pitchFamily="34" charset="0"/>
              </a:rPr>
              <a:t>All rights reserved.</a:t>
            </a:r>
          </a:p>
        </p:txBody>
      </p:sp>
      <p:cxnSp>
        <p:nvCxnSpPr>
          <p:cNvPr id="3" name="Straight Connector 2">
            <a:extLst>
              <a:ext uri="{FF2B5EF4-FFF2-40B4-BE49-F238E27FC236}">
                <a16:creationId xmlns:a16="http://schemas.microsoft.com/office/drawing/2014/main" id="{AFE02AF4-8088-624A-BE8A-F9B6D564C0CE}"/>
              </a:ext>
            </a:extLst>
          </p:cNvPr>
          <p:cNvCxnSpPr>
            <a:cxnSpLocks/>
          </p:cNvCxnSpPr>
          <p:nvPr userDrawn="1"/>
        </p:nvCxnSpPr>
        <p:spPr>
          <a:xfrm>
            <a:off x="457200" y="2359708"/>
            <a:ext cx="7315200" cy="0"/>
          </a:xfrm>
          <a:prstGeom prst="line">
            <a:avLst/>
          </a:prstGeom>
          <a:ln w="152400">
            <a:solidFill>
              <a:srgbClr val="5D36B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3D25BDE-BE07-5147-B642-ED69964AF7CA}"/>
              </a:ext>
            </a:extLst>
          </p:cNvPr>
          <p:cNvSpPr txBox="1"/>
          <p:nvPr userDrawn="1"/>
        </p:nvSpPr>
        <p:spPr>
          <a:xfrm>
            <a:off x="421640" y="2072641"/>
            <a:ext cx="284237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Powered by AWS</a:t>
            </a:r>
          </a:p>
          <a:p>
            <a:pPr algn="r"/>
            <a:endPar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8" name="Picture 17">
            <a:extLst>
              <a:ext uri="{FF2B5EF4-FFF2-40B4-BE49-F238E27FC236}">
                <a16:creationId xmlns:a16="http://schemas.microsoft.com/office/drawing/2014/main" id="{91CB3DCE-A1CC-6748-85B4-2A588BD480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80926" y="9626118"/>
            <a:ext cx="557396" cy="336541"/>
          </a:xfrm>
          <a:prstGeom prst="rect">
            <a:avLst/>
          </a:prstGeom>
        </p:spPr>
      </p:pic>
    </p:spTree>
    <p:extLst>
      <p:ext uri="{BB962C8B-B14F-4D97-AF65-F5344CB8AC3E}">
        <p14:creationId xmlns:p14="http://schemas.microsoft.com/office/powerpoint/2010/main" val="4099931991"/>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guide id="3" pos="288">
          <p15:clr>
            <a:srgbClr val="FBAE40"/>
          </p15:clr>
        </p15:guide>
        <p15:guide id="4" orient="horz" pos="288">
          <p15:clr>
            <a:srgbClr val="FBAE40"/>
          </p15:clr>
        </p15:guide>
        <p15:guide id="5" pos="4608">
          <p15:clr>
            <a:srgbClr val="FBAE40"/>
          </p15:clr>
        </p15:guide>
        <p15:guide id="6" orient="horz" pos="60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A6CA6EF3-A1A7-4EA4-A266-4F810EE35540}" type="datetimeFigureOut">
              <a:rPr lang="en-US" smtClean="0"/>
              <a:t>1/5/2026</a:t>
            </a:fld>
            <a:endParaRPr lang="en-US" dirty="0"/>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5A829EDA-8C07-40AA-9529-9254A2B5FD41}" type="slidenum">
              <a:rPr lang="en-US" smtClean="0"/>
              <a:t>‹#›</a:t>
            </a:fld>
            <a:endParaRPr lang="en-US" dirty="0"/>
          </a:p>
        </p:txBody>
      </p:sp>
    </p:spTree>
    <p:extLst>
      <p:ext uri="{BB962C8B-B14F-4D97-AF65-F5344CB8AC3E}">
        <p14:creationId xmlns:p14="http://schemas.microsoft.com/office/powerpoint/2010/main" val="40422473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057195B4-A660-8D43-9785-6673C459F36D}"/>
              </a:ext>
            </a:extLst>
          </p:cNvPr>
          <p:cNvSpPr txBox="1"/>
          <p:nvPr/>
        </p:nvSpPr>
        <p:spPr>
          <a:xfrm>
            <a:off x="464446" y="6805630"/>
            <a:ext cx="855631" cy="276999"/>
          </a:xfrm>
          <a:prstGeom prst="rect">
            <a:avLst/>
          </a:prstGeom>
          <a:noFill/>
        </p:spPr>
        <p:txBody>
          <a:bodyPr wrap="square" rtlCol="0">
            <a:spAutoFit/>
          </a:bodyPr>
          <a:lstStyle/>
          <a:p>
            <a:r>
              <a:rPr lang="en-US" sz="1200" b="1" dirty="0">
                <a:solidFill>
                  <a:srgbClr val="222F3E"/>
                </a:solidFill>
                <a:latin typeface="Amazon Ember" panose="020B0603020204020204" pitchFamily="34" charset="0"/>
                <a:ea typeface="Amazon Ember" panose="020B0603020204020204" pitchFamily="34" charset="0"/>
                <a:cs typeface="Amazon Ember" panose="020B0603020204020204" pitchFamily="34" charset="0"/>
              </a:rPr>
              <a:t>Features</a:t>
            </a:r>
          </a:p>
        </p:txBody>
      </p:sp>
      <p:pic>
        <p:nvPicPr>
          <p:cNvPr id="22" name="Picture 21">
            <a:extLst>
              <a:ext uri="{FF2B5EF4-FFF2-40B4-BE49-F238E27FC236}">
                <a16:creationId xmlns:a16="http://schemas.microsoft.com/office/drawing/2014/main" id="{A3F5078B-793C-A04A-BE77-166D3A80AE01}"/>
              </a:ext>
            </a:extLst>
          </p:cNvPr>
          <p:cNvPicPr>
            <a:picLocks noChangeAspect="1"/>
          </p:cNvPicPr>
          <p:nvPr/>
        </p:nvPicPr>
        <p:blipFill>
          <a:blip r:embed="rId2">
            <a:duotone>
              <a:prstClr val="black"/>
              <a:srgbClr val="01608F">
                <a:tint val="45000"/>
                <a:satMod val="400000"/>
              </a:srgbClr>
            </a:duotone>
          </a:blip>
          <a:srcRect/>
          <a:stretch/>
        </p:blipFill>
        <p:spPr>
          <a:xfrm>
            <a:off x="651958" y="4278406"/>
            <a:ext cx="680364" cy="649437"/>
          </a:xfrm>
          <a:prstGeom prst="rect">
            <a:avLst/>
          </a:prstGeom>
        </p:spPr>
      </p:pic>
      <p:pic>
        <p:nvPicPr>
          <p:cNvPr id="24" name="Picture 23">
            <a:extLst>
              <a:ext uri="{FF2B5EF4-FFF2-40B4-BE49-F238E27FC236}">
                <a16:creationId xmlns:a16="http://schemas.microsoft.com/office/drawing/2014/main" id="{B7CDF735-9C6C-E54E-9215-F265C5D039D4}"/>
              </a:ext>
            </a:extLst>
          </p:cNvPr>
          <p:cNvPicPr>
            <a:picLocks noChangeAspect="1"/>
          </p:cNvPicPr>
          <p:nvPr/>
        </p:nvPicPr>
        <p:blipFill>
          <a:blip r:embed="rId3">
            <a:duotone>
              <a:prstClr val="black"/>
              <a:srgbClr val="01608F">
                <a:tint val="45000"/>
                <a:satMod val="400000"/>
              </a:srgbClr>
            </a:duotone>
            <a:extLst>
              <a:ext uri="{BEBA8EAE-BF5A-486C-A8C5-ECC9F3942E4B}">
                <a14:imgProps xmlns:a14="http://schemas.microsoft.com/office/drawing/2010/main">
                  <a14:imgLayer r:embed="rId4">
                    <a14:imgEffect>
                      <a14:colorTemperature colorTemp="11200"/>
                    </a14:imgEffect>
                  </a14:imgLayer>
                </a14:imgProps>
              </a:ext>
            </a:extLst>
          </a:blip>
          <a:srcRect/>
          <a:stretch/>
        </p:blipFill>
        <p:spPr>
          <a:xfrm>
            <a:off x="655117" y="2862336"/>
            <a:ext cx="682506" cy="697673"/>
          </a:xfrm>
          <a:prstGeom prst="rect">
            <a:avLst/>
          </a:prstGeom>
        </p:spPr>
      </p:pic>
      <p:sp>
        <p:nvSpPr>
          <p:cNvPr id="25" name="TextBox 24">
            <a:extLst>
              <a:ext uri="{FF2B5EF4-FFF2-40B4-BE49-F238E27FC236}">
                <a16:creationId xmlns:a16="http://schemas.microsoft.com/office/drawing/2014/main" id="{28BF0439-7D72-1442-89B5-DC4464687A5C}"/>
              </a:ext>
            </a:extLst>
          </p:cNvPr>
          <p:cNvSpPr txBox="1"/>
          <p:nvPr/>
        </p:nvSpPr>
        <p:spPr>
          <a:xfrm>
            <a:off x="433420" y="3770092"/>
            <a:ext cx="2719954" cy="338554"/>
          </a:xfrm>
          <a:prstGeom prst="rect">
            <a:avLst/>
          </a:prstGeom>
          <a:noFill/>
        </p:spPr>
        <p:txBody>
          <a:bodyPr wrap="square" rtlCol="0">
            <a:spAutoFit/>
          </a:bodyPr>
          <a:lstStyle/>
          <a:p>
            <a:r>
              <a:rPr lang="en-US" sz="1600" b="1" dirty="0">
                <a:solidFill>
                  <a:srgbClr val="5D36B9"/>
                </a:solidFill>
                <a:latin typeface="Amazon Ember" panose="020B0603020204020204" pitchFamily="34" charset="0"/>
                <a:ea typeface="Amazon Ember" panose="020B0603020204020204" pitchFamily="34" charset="0"/>
                <a:cs typeface="Amazon Ember" panose="020B0603020204020204" pitchFamily="34" charset="0"/>
              </a:rPr>
              <a:t>Solution</a:t>
            </a:r>
          </a:p>
        </p:txBody>
      </p:sp>
      <p:cxnSp>
        <p:nvCxnSpPr>
          <p:cNvPr id="27" name="Straight Connector 26">
            <a:extLst>
              <a:ext uri="{FF2B5EF4-FFF2-40B4-BE49-F238E27FC236}">
                <a16:creationId xmlns:a16="http://schemas.microsoft.com/office/drawing/2014/main" id="{1B8282B2-7FDC-4947-9177-C5564972A2AD}"/>
              </a:ext>
            </a:extLst>
          </p:cNvPr>
          <p:cNvCxnSpPr>
            <a:cxnSpLocks/>
          </p:cNvCxnSpPr>
          <p:nvPr/>
        </p:nvCxnSpPr>
        <p:spPr>
          <a:xfrm>
            <a:off x="228600" y="5435882"/>
            <a:ext cx="7315200" cy="0"/>
          </a:xfrm>
          <a:prstGeom prst="line">
            <a:avLst/>
          </a:prstGeom>
          <a:ln w="152400">
            <a:solidFill>
              <a:srgbClr val="5D36B9"/>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25C313D-3A9B-48B8-A2BF-40A27B396773}"/>
              </a:ext>
            </a:extLst>
          </p:cNvPr>
          <p:cNvSpPr txBox="1"/>
          <p:nvPr/>
        </p:nvSpPr>
        <p:spPr>
          <a:xfrm>
            <a:off x="464446" y="2491667"/>
            <a:ext cx="2719954" cy="338554"/>
          </a:xfrm>
          <a:prstGeom prst="rect">
            <a:avLst/>
          </a:prstGeom>
          <a:noFill/>
        </p:spPr>
        <p:txBody>
          <a:bodyPr wrap="square" rtlCol="0">
            <a:spAutoFit/>
          </a:bodyPr>
          <a:lstStyle/>
          <a:p>
            <a:r>
              <a:rPr lang="en-US" sz="1600" b="1" dirty="0">
                <a:solidFill>
                  <a:srgbClr val="5D36B9"/>
                </a:solidFill>
                <a:latin typeface="Amazon Ember" panose="020B0603020204020204" pitchFamily="34" charset="0"/>
                <a:ea typeface="Amazon Ember" panose="020B0603020204020204" pitchFamily="34" charset="0"/>
                <a:cs typeface="Amazon Ember" panose="020B0603020204020204" pitchFamily="34" charset="0"/>
              </a:rPr>
              <a:t>Problem</a:t>
            </a:r>
          </a:p>
        </p:txBody>
      </p:sp>
      <p:sp>
        <p:nvSpPr>
          <p:cNvPr id="29" name="TextBox 28">
            <a:extLst>
              <a:ext uri="{FF2B5EF4-FFF2-40B4-BE49-F238E27FC236}">
                <a16:creationId xmlns:a16="http://schemas.microsoft.com/office/drawing/2014/main" id="{67430307-AE62-4EF7-83D0-338E90D09A12}"/>
              </a:ext>
            </a:extLst>
          </p:cNvPr>
          <p:cNvSpPr txBox="1"/>
          <p:nvPr/>
        </p:nvSpPr>
        <p:spPr>
          <a:xfrm>
            <a:off x="1490754" y="3843555"/>
            <a:ext cx="5780869" cy="1323439"/>
          </a:xfrm>
          <a:prstGeom prst="rect">
            <a:avLst/>
          </a:prstGeom>
          <a:noFill/>
        </p:spPr>
        <p:txBody>
          <a:bodyPr wrap="square" rtlCol="0">
            <a:spAutoFit/>
          </a:bodyPr>
          <a:lstStyle/>
          <a:p>
            <a:r>
              <a:rPr lang="en-US" sz="800" dirty="0"/>
              <a:t>The Federal Flood Monitoring System demonstrates a modern approach to inter-agency collaboration through real-time data integration and artificial intelligence. This comprehensive solution combines USGS stream gauge readings with NOAA weather observations in a unified AWS cloud architecture, enabling predictive flood analytics with six-hour advance warning capabilities.</a:t>
            </a:r>
          </a:p>
          <a:p>
            <a:r>
              <a:rPr lang="en-US" sz="800" dirty="0"/>
              <a:t>The system leverages serverless computing to automatically collect data from both agencies every 15-20 minutes, storing information in optimized databases with intelligent cost controls. Machine learning algorithms analyze historical patterns and current conditions to generate probabilistic flood predictions, automatically triggering graduated alert levels (Watch, Warning, Emergency) based on risk assessment. The entire infrastructure deploys through a single CloudFormation template, enabling rapid replication across regions and agencies. This solution showcases how federal civilian agencies can modernize legacy systems while achieving dramatic cost reductions and enhanced operational capabilities through cloud-native architectures and inter-agency data sharing.</a:t>
            </a:r>
          </a:p>
          <a:p>
            <a:endParaRPr lang="en-US" sz="800" dirty="0">
              <a:solidFill>
                <a:srgbClr val="222F3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1" name="TextBox 30">
            <a:extLst>
              <a:ext uri="{FF2B5EF4-FFF2-40B4-BE49-F238E27FC236}">
                <a16:creationId xmlns:a16="http://schemas.microsoft.com/office/drawing/2014/main" id="{06DA389C-0EAC-4981-85F1-8916D8757D63}"/>
              </a:ext>
            </a:extLst>
          </p:cNvPr>
          <p:cNvSpPr txBox="1"/>
          <p:nvPr/>
        </p:nvSpPr>
        <p:spPr>
          <a:xfrm>
            <a:off x="1496055" y="2551524"/>
            <a:ext cx="5880847" cy="1323439"/>
          </a:xfrm>
          <a:prstGeom prst="rect">
            <a:avLst/>
          </a:prstGeom>
          <a:noFill/>
        </p:spPr>
        <p:txBody>
          <a:bodyPr wrap="square" lIns="91440" tIns="45720" rIns="91440" bIns="45720" rtlCol="0" anchor="t">
            <a:spAutoFit/>
          </a:bodyPr>
          <a:lstStyle/>
          <a:p>
            <a:r>
              <a:rPr lang="en-US" sz="800" dirty="0"/>
              <a:t>Federal agencies face significant challenges in flood prediction and emergency response due to fragmented data systems and reactive monitoring approaches. Currently, the U.S. Geological Survey (USGS) stream gauge data and National Oceanic and Atmospheric Administration (NOAA) weather observations operate in isolation, preventing comprehensive flood risk assessment. Traditional flood monitoring systems rely on threshold-based alerts that provide minimal advance warning, often resulting in inadequate preparation time for emergency management agencies and affected communities.</a:t>
            </a:r>
          </a:p>
          <a:p>
            <a:r>
              <a:rPr lang="en-US" sz="800" dirty="0"/>
              <a:t>The lack of integrated, predictive analytics across federal data sources creates critical gaps in public safety infrastructure. Emergency managers receive flood warnings only when water levels have already reached dangerous thresholds, limiting response effectiveness and potentially compromising life safety outcomes. Additionally, legacy monitoring systems require substantial infrastructure investments and ongoing maintenance costs that strain federal budgets while delivering suboptimal performance.</a:t>
            </a:r>
          </a:p>
          <a:p>
            <a:endParaRPr lang="en-US" sz="800" dirty="0">
              <a:latin typeface="Amazon Ember" panose="020B0603020204020204" pitchFamily="34" charset="0"/>
              <a:ea typeface="MS Mincho" panose="02020609040205080304" pitchFamily="49" charset="-128"/>
              <a:cs typeface="Times New Roman" panose="02020603050405020304" pitchFamily="18" charset="0"/>
            </a:endParaRPr>
          </a:p>
        </p:txBody>
      </p:sp>
      <p:sp>
        <p:nvSpPr>
          <p:cNvPr id="33" name="TextBox 32">
            <a:extLst>
              <a:ext uri="{FF2B5EF4-FFF2-40B4-BE49-F238E27FC236}">
                <a16:creationId xmlns:a16="http://schemas.microsoft.com/office/drawing/2014/main" id="{FCA003AD-4D9D-4C5C-A0DB-8CD1B752A6E5}"/>
              </a:ext>
            </a:extLst>
          </p:cNvPr>
          <p:cNvSpPr txBox="1"/>
          <p:nvPr/>
        </p:nvSpPr>
        <p:spPr>
          <a:xfrm>
            <a:off x="1490754" y="6554493"/>
            <a:ext cx="5749645" cy="1661993"/>
          </a:xfrm>
          <a:prstGeom prst="rect">
            <a:avLst/>
          </a:prstGeom>
          <a:noFill/>
        </p:spPr>
        <p:txBody>
          <a:bodyPr wrap="square" rtlCol="0">
            <a:spAutoFit/>
          </a:bodyPr>
          <a:lstStyle/>
          <a:p>
            <a:br>
              <a:rPr lang="en-US" sz="600" dirty="0"/>
            </a:br>
            <a:endParaRPr lang="en-US" sz="600" dirty="0"/>
          </a:p>
          <a:p>
            <a:r>
              <a:rPr lang="en-US" sz="600" b="1" dirty="0"/>
              <a:t>**Real-Time Data Integration**: </a:t>
            </a:r>
            <a:r>
              <a:rPr lang="en-US" sz="600" dirty="0"/>
              <a:t>Automated collection from USGS stream gauges (Potomac River basin) and NOAA weather stations (DC metro area) every 15-20 minutes, ensuring comprehensive environmental monitoring coverage.</a:t>
            </a:r>
          </a:p>
          <a:p>
            <a:r>
              <a:rPr lang="en-US" sz="600" b="1" dirty="0"/>
              <a:t>**AI/ML Predictions**: </a:t>
            </a:r>
            <a:r>
              <a:rPr lang="en-US" sz="600" dirty="0"/>
              <a:t>Machine learning algorithms trained on historical flood patterns provide probabilistic risk assessments with graduated alert levels, moving beyond simple threshold-based warnings to sophisticated predictive analytics.</a:t>
            </a:r>
          </a:p>
          <a:p>
            <a:r>
              <a:rPr lang="en-US" sz="600" b="1" dirty="0"/>
              <a:t>**Intelligent Alerting**: </a:t>
            </a:r>
            <a:r>
              <a:rPr lang="en-US" sz="600" dirty="0"/>
              <a:t>Automated email notifications through Amazon SNS with three-tier alert system (Watch &gt;20%, Warning &gt;50%, Emergency &gt;80% flood probability) ensure appropriate response escalation.</a:t>
            </a:r>
          </a:p>
          <a:p>
            <a:r>
              <a:rPr lang="en-US" sz="600" b="1" dirty="0"/>
              <a:t>**Cost-Optimized Architecture**: </a:t>
            </a:r>
            <a:r>
              <a:rPr lang="en-US" sz="600" dirty="0"/>
              <a:t>Serverless AWS infrastructure with 14-day data retention and pay-per-use pricing model maximizes efficiency while maintaining operational capability and system reliability.</a:t>
            </a:r>
          </a:p>
          <a:p>
            <a:r>
              <a:rPr lang="en-US" sz="600" b="1" dirty="0"/>
              <a:t>**Comprehensive Monitoring**: </a:t>
            </a:r>
            <a:r>
              <a:rPr lang="en-US" sz="600" dirty="0"/>
              <a:t>Real-time CloudWatch dashboards provide system health visibility, performance metrics, error tracking, and operational insights for continuous improvement and troubleshooting.</a:t>
            </a:r>
            <a:br>
              <a:rPr lang="en-US" sz="600" dirty="0"/>
            </a:br>
            <a:r>
              <a:rPr lang="en-US" sz="600" b="1" dirty="0"/>
              <a:t>**One-Click Deployment**: </a:t>
            </a:r>
            <a:r>
              <a:rPr lang="en-US" sz="600" dirty="0"/>
              <a:t>Complete CloudFormation template enables rapid system replication across AWS accounts, regions, and agencies with minimal technical expertise required for implementation.</a:t>
            </a:r>
          </a:p>
          <a:p>
            <a:br>
              <a:rPr lang="en-US" sz="600" dirty="0"/>
            </a:br>
            <a:endParaRPr lang="en-US" sz="600" dirty="0"/>
          </a:p>
          <a:p>
            <a:pPr marL="171450" indent="-171450" algn="just">
              <a:buFont typeface="Arial" panose="020B0604020202020204" pitchFamily="34" charset="0"/>
              <a:buChar char="•"/>
            </a:pPr>
            <a:endParaRPr lang="en-US" sz="600" dirty="0">
              <a:solidFill>
                <a:srgbClr val="222F3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TextBox 18">
            <a:extLst>
              <a:ext uri="{FF2B5EF4-FFF2-40B4-BE49-F238E27FC236}">
                <a16:creationId xmlns:a16="http://schemas.microsoft.com/office/drawing/2014/main" id="{D6B9CF48-832B-4122-8EBA-8788E09688AC}"/>
              </a:ext>
            </a:extLst>
          </p:cNvPr>
          <p:cNvSpPr txBox="1"/>
          <p:nvPr/>
        </p:nvSpPr>
        <p:spPr>
          <a:xfrm>
            <a:off x="1541578" y="5543869"/>
            <a:ext cx="3754321" cy="338554"/>
          </a:xfrm>
          <a:prstGeom prst="rect">
            <a:avLst/>
          </a:prstGeom>
          <a:noFill/>
        </p:spPr>
        <p:txBody>
          <a:bodyPr wrap="square" rtlCol="0">
            <a:spAutoFit/>
          </a:bodyPr>
          <a:lstStyle/>
          <a:p>
            <a:r>
              <a:rPr lang="en-US" sz="1600" b="1" dirty="0">
                <a:solidFill>
                  <a:srgbClr val="5D36B9"/>
                </a:solidFill>
                <a:latin typeface="Amazon Ember" panose="020B0603020204020204" pitchFamily="34" charset="0"/>
                <a:ea typeface="Amazon Ember" panose="020B0603020204020204" pitchFamily="34" charset="0"/>
                <a:cs typeface="Amazon Ember" panose="020B0603020204020204" pitchFamily="34" charset="0"/>
              </a:rPr>
              <a:t>What are the Benefits and Features?</a:t>
            </a:r>
          </a:p>
        </p:txBody>
      </p:sp>
      <p:sp>
        <p:nvSpPr>
          <p:cNvPr id="34" name="TextBox 33">
            <a:extLst>
              <a:ext uri="{FF2B5EF4-FFF2-40B4-BE49-F238E27FC236}">
                <a16:creationId xmlns:a16="http://schemas.microsoft.com/office/drawing/2014/main" id="{18A6F4ED-4EBA-4C28-9CE1-B1137E2B465D}"/>
              </a:ext>
            </a:extLst>
          </p:cNvPr>
          <p:cNvSpPr txBox="1"/>
          <p:nvPr/>
        </p:nvSpPr>
        <p:spPr>
          <a:xfrm>
            <a:off x="170729" y="8106823"/>
            <a:ext cx="1642821" cy="523220"/>
          </a:xfrm>
          <a:prstGeom prst="rect">
            <a:avLst/>
          </a:prstGeom>
          <a:noFill/>
        </p:spPr>
        <p:txBody>
          <a:bodyPr wrap="square" rtlCol="0">
            <a:spAutoFit/>
          </a:bodyPr>
          <a:lstStyle/>
          <a:p>
            <a:r>
              <a:rPr lang="en-US" sz="1400" b="1" dirty="0">
                <a:solidFill>
                  <a:srgbClr val="5D36B9"/>
                </a:solidFill>
                <a:latin typeface="Amazon Ember" panose="020B0603020204020204" pitchFamily="34" charset="0"/>
                <a:ea typeface="Amazon Ember" panose="020B0603020204020204" pitchFamily="34" charset="0"/>
                <a:cs typeface="Amazon Ember" panose="020B0603020204020204" pitchFamily="34" charset="0"/>
              </a:rPr>
              <a:t>Who do I contact?</a:t>
            </a:r>
          </a:p>
        </p:txBody>
      </p:sp>
      <p:sp>
        <p:nvSpPr>
          <p:cNvPr id="20" name="TextBox 19">
            <a:extLst>
              <a:ext uri="{FF2B5EF4-FFF2-40B4-BE49-F238E27FC236}">
                <a16:creationId xmlns:a16="http://schemas.microsoft.com/office/drawing/2014/main" id="{291B19D6-45C9-4685-A853-6A13F29226D8}"/>
              </a:ext>
            </a:extLst>
          </p:cNvPr>
          <p:cNvSpPr txBox="1"/>
          <p:nvPr/>
        </p:nvSpPr>
        <p:spPr>
          <a:xfrm>
            <a:off x="433420" y="6022502"/>
            <a:ext cx="855631" cy="276999"/>
          </a:xfrm>
          <a:prstGeom prst="rect">
            <a:avLst/>
          </a:prstGeom>
          <a:noFill/>
        </p:spPr>
        <p:txBody>
          <a:bodyPr wrap="square" rtlCol="0">
            <a:spAutoFit/>
          </a:bodyPr>
          <a:lstStyle/>
          <a:p>
            <a:r>
              <a:rPr lang="en-US" sz="1200" b="1" dirty="0">
                <a:solidFill>
                  <a:srgbClr val="222F3E"/>
                </a:solidFill>
                <a:latin typeface="Amazon Ember" panose="020B0603020204020204" pitchFamily="34" charset="0"/>
                <a:ea typeface="Amazon Ember" panose="020B0603020204020204" pitchFamily="34" charset="0"/>
                <a:cs typeface="Amazon Ember" panose="020B0603020204020204" pitchFamily="34" charset="0"/>
              </a:rPr>
              <a:t>Benefits</a:t>
            </a:r>
          </a:p>
        </p:txBody>
      </p:sp>
      <p:sp>
        <p:nvSpPr>
          <p:cNvPr id="23" name="Text Placeholder 1">
            <a:extLst>
              <a:ext uri="{FF2B5EF4-FFF2-40B4-BE49-F238E27FC236}">
                <a16:creationId xmlns:a16="http://schemas.microsoft.com/office/drawing/2014/main" id="{B5666895-A811-4FA1-9CED-FDB3D097F13B}"/>
              </a:ext>
            </a:extLst>
          </p:cNvPr>
          <p:cNvSpPr txBox="1">
            <a:spLocks/>
          </p:cNvSpPr>
          <p:nvPr/>
        </p:nvSpPr>
        <p:spPr>
          <a:xfrm>
            <a:off x="390786" y="573000"/>
            <a:ext cx="5880847" cy="1329595"/>
          </a:xfrm>
          <a:prstGeom prst="rect">
            <a:avLst/>
          </a:prstGeom>
        </p:spPr>
        <p:txBody>
          <a:bodyPr vert="horz" wrap="square" lIns="0" tIns="0" rIns="0" bIns="0" rtlCol="0" anchor="t">
            <a:spAutoFit/>
          </a:bodyPr>
          <a:lstStyle>
            <a:lvl1pPr marL="0" indent="0" algn="l" defTabSz="777240" rtl="0" eaLnBrk="1" latinLnBrk="0" hangingPunct="1">
              <a:lnSpc>
                <a:spcPct val="90000"/>
              </a:lnSpc>
              <a:spcBef>
                <a:spcPts val="0"/>
              </a:spcBef>
              <a:buFont typeface="Arial" panose="020B0604020202020204" pitchFamily="34" charset="0"/>
              <a:buNone/>
              <a:defRPr sz="3200" b="0" i="0" kern="1200">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marL="0" indent="0" algn="l" defTabSz="777240" rtl="0" eaLnBrk="1" latinLnBrk="0" hangingPunct="1">
              <a:lnSpc>
                <a:spcPct val="90000"/>
              </a:lnSpc>
              <a:spcBef>
                <a:spcPts val="0"/>
              </a:spcBef>
              <a:buFont typeface="Arial" panose="020B0604020202020204" pitchFamily="34" charset="0"/>
              <a:buNone/>
              <a:defRPr sz="2400" b="1" i="0" kern="1200">
                <a:solidFill>
                  <a:schemeClr val="tx1"/>
                </a:solidFill>
                <a:latin typeface="Amazon Ember Heavy" panose="020B0603020204020204" pitchFamily="34" charset="0"/>
                <a:ea typeface="Amazon Ember Heavy" panose="020B0603020204020204" pitchFamily="34" charset="0"/>
                <a:cs typeface="Amazon Ember Heavy" panose="020B0603020204020204" pitchFamily="34" charset="0"/>
              </a:defRPr>
            </a:lvl2pPr>
            <a:lvl3pPr marL="0" indent="0" algn="l" defTabSz="777240" rtl="0" eaLnBrk="1" latinLnBrk="0" hangingPunct="1">
              <a:lnSpc>
                <a:spcPct val="100000"/>
              </a:lnSpc>
              <a:spcBef>
                <a:spcPts val="1200"/>
              </a:spcBef>
              <a:spcAft>
                <a:spcPts val="300"/>
              </a:spcAft>
              <a:buFont typeface="Arial" panose="020B0604020202020204" pitchFamily="34" charset="0"/>
              <a:buNone/>
              <a:defRPr sz="1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82880" indent="-182880" algn="l" defTabSz="777240" rtl="0" eaLnBrk="1" latinLnBrk="0" hangingPunct="1">
              <a:lnSpc>
                <a:spcPct val="100000"/>
              </a:lnSpc>
              <a:spcBef>
                <a:spcPts val="300"/>
              </a:spcBef>
              <a:buFont typeface="Arial" panose="020B0604020202020204" pitchFamily="34" charset="0"/>
              <a:buChar char="•"/>
              <a:defRPr sz="1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748790" indent="-194310" algn="l" defTabSz="777240" rtl="0" eaLnBrk="1" latinLnBrk="0" hangingPunct="1">
              <a:lnSpc>
                <a:spcPct val="100000"/>
              </a:lnSpc>
              <a:spcBef>
                <a:spcPts val="425"/>
              </a:spcBef>
              <a:buFont typeface="Arial" panose="020B0604020202020204" pitchFamily="34" charset="0"/>
              <a:buChar char="•"/>
              <a:defRPr sz="1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r>
              <a:rPr lang="en-US" dirty="0"/>
              <a:t>USGS + NOAA Flood Prediction: AI/ML-Powered Early Warning System</a:t>
            </a:r>
          </a:p>
        </p:txBody>
      </p:sp>
      <p:sp>
        <p:nvSpPr>
          <p:cNvPr id="2" name="Rectangle 1">
            <a:extLst>
              <a:ext uri="{FF2B5EF4-FFF2-40B4-BE49-F238E27FC236}">
                <a16:creationId xmlns:a16="http://schemas.microsoft.com/office/drawing/2014/main" id="{F8C27F34-52B1-4EA7-8C4D-CC46FBC5F78D}"/>
              </a:ext>
            </a:extLst>
          </p:cNvPr>
          <p:cNvSpPr/>
          <p:nvPr/>
        </p:nvSpPr>
        <p:spPr>
          <a:xfrm>
            <a:off x="1663700" y="8148199"/>
            <a:ext cx="5410200" cy="246221"/>
          </a:xfrm>
          <a:prstGeom prst="rect">
            <a:avLst/>
          </a:prstGeom>
        </p:spPr>
        <p:txBody>
          <a:bodyPr wrap="square">
            <a:spAutoFit/>
          </a:bodyPr>
          <a:lstStyle/>
          <a:p>
            <a:pPr lvl="0"/>
            <a:r>
              <a:rPr lang="en-US" sz="1000"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Point of Contact for a Demo:  &lt;awspark@amazon.com&gt;</a:t>
            </a:r>
          </a:p>
        </p:txBody>
      </p:sp>
      <p:sp>
        <p:nvSpPr>
          <p:cNvPr id="3" name="TextBox 2">
            <a:extLst>
              <a:ext uri="{FF2B5EF4-FFF2-40B4-BE49-F238E27FC236}">
                <a16:creationId xmlns:a16="http://schemas.microsoft.com/office/drawing/2014/main" id="{B20E146A-7C2E-4BB2-98AD-EA8395800657}"/>
              </a:ext>
            </a:extLst>
          </p:cNvPr>
          <p:cNvSpPr txBox="1"/>
          <p:nvPr/>
        </p:nvSpPr>
        <p:spPr>
          <a:xfrm>
            <a:off x="1490754" y="5943922"/>
            <a:ext cx="6245755" cy="1015663"/>
          </a:xfrm>
          <a:prstGeom prst="rect">
            <a:avLst/>
          </a:prstGeom>
          <a:noFill/>
        </p:spPr>
        <p:txBody>
          <a:bodyPr wrap="square" rtlCol="0">
            <a:spAutoFit/>
          </a:bodyPr>
          <a:lstStyle/>
          <a:p>
            <a:r>
              <a:rPr lang="en-US" sz="600" b="1" dirty="0"/>
              <a:t>**Enhanced Public Safety**: </a:t>
            </a:r>
            <a:r>
              <a:rPr lang="en-US" sz="600" dirty="0"/>
              <a:t>Six-hour advance flood predictions provide emergency managers with critical lead time for evacuation planning, resource deployment, and community notification, potentially saving lives and reducing property damage.</a:t>
            </a:r>
          </a:p>
          <a:p>
            <a:r>
              <a:rPr lang="en-US" sz="600" b="1" dirty="0"/>
              <a:t>**Cost Efficiency**: </a:t>
            </a:r>
            <a:r>
              <a:rPr lang="en-US" sz="600" dirty="0"/>
              <a:t>The serverless architecture delivers 99% cost reduction compared to traditional monitoring systems, reducing monthly operational expenses from approximately $48,000 to $25 while improving performance and reliability.</a:t>
            </a:r>
          </a:p>
          <a:p>
            <a:r>
              <a:rPr lang="en-US" sz="600" b="1" dirty="0"/>
              <a:t>**Inter-Agency Collaboration**: </a:t>
            </a:r>
            <a:r>
              <a:rPr lang="en-US" sz="600" dirty="0"/>
              <a:t>Demonstrates successful integration of USGS and NOAA data sources, establishing a replicable model for federal agencies to share resources and enhance mission effectiveness through coordinated efforts.</a:t>
            </a:r>
            <a:br>
              <a:rPr lang="en-US" sz="600" dirty="0"/>
            </a:br>
            <a:r>
              <a:rPr lang="en-US" sz="600" b="1" dirty="0"/>
              <a:t>**Rapid Deployment**: </a:t>
            </a:r>
            <a:r>
              <a:rPr lang="en-US" sz="600" dirty="0"/>
              <a:t>Complete system deployment in 5-10 minutes through infrastructure-as-code enables quick scaling to additional regions, watersheds, or emergency scenarios without extensive setup procedures.</a:t>
            </a:r>
            <a:br>
              <a:rPr lang="en-US" sz="600" dirty="0"/>
            </a:br>
            <a:endParaRPr lang="en-US" sz="600" dirty="0"/>
          </a:p>
          <a:p>
            <a:pPr marL="171450" indent="-171450">
              <a:buFont typeface="Arial" panose="020B0604020202020204" pitchFamily="34" charset="0"/>
              <a:buChar char="•"/>
            </a:pPr>
            <a:endParaRPr lang="en-US" sz="6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TextBox 20">
            <a:extLst>
              <a:ext uri="{FF2B5EF4-FFF2-40B4-BE49-F238E27FC236}">
                <a16:creationId xmlns:a16="http://schemas.microsoft.com/office/drawing/2014/main" id="{C5D4942C-95D2-4323-913E-012525D2A81B}"/>
              </a:ext>
            </a:extLst>
          </p:cNvPr>
          <p:cNvSpPr txBox="1"/>
          <p:nvPr/>
        </p:nvSpPr>
        <p:spPr>
          <a:xfrm>
            <a:off x="170729" y="8814191"/>
            <a:ext cx="1642821" cy="738664"/>
          </a:xfrm>
          <a:prstGeom prst="rect">
            <a:avLst/>
          </a:prstGeom>
          <a:noFill/>
        </p:spPr>
        <p:txBody>
          <a:bodyPr wrap="square" rtlCol="0">
            <a:spAutoFit/>
          </a:bodyPr>
          <a:lstStyle/>
          <a:p>
            <a:r>
              <a:rPr lang="en-US" sz="1400" b="1" dirty="0">
                <a:solidFill>
                  <a:srgbClr val="5D36B9"/>
                </a:solidFill>
                <a:latin typeface="Amazon Ember" panose="020B0603020204020204" pitchFamily="34" charset="0"/>
                <a:ea typeface="Amazon Ember" panose="020B0603020204020204" pitchFamily="34" charset="0"/>
                <a:cs typeface="Amazon Ember" panose="020B0603020204020204" pitchFamily="34" charset="0"/>
              </a:rPr>
              <a:t>Where do I find additional details?</a:t>
            </a:r>
          </a:p>
        </p:txBody>
      </p:sp>
      <p:sp>
        <p:nvSpPr>
          <p:cNvPr id="32" name="Rectangle 31">
            <a:extLst>
              <a:ext uri="{FF2B5EF4-FFF2-40B4-BE49-F238E27FC236}">
                <a16:creationId xmlns:a16="http://schemas.microsoft.com/office/drawing/2014/main" id="{68E96184-BFB1-42DD-8D34-2F7FC6223C33}"/>
              </a:ext>
            </a:extLst>
          </p:cNvPr>
          <p:cNvSpPr/>
          <p:nvPr/>
        </p:nvSpPr>
        <p:spPr>
          <a:xfrm>
            <a:off x="1663700" y="8855567"/>
            <a:ext cx="5410200" cy="246221"/>
          </a:xfrm>
          <a:prstGeom prst="rect">
            <a:avLst/>
          </a:prstGeom>
        </p:spPr>
        <p:txBody>
          <a:bodyPr wrap="square">
            <a:spAutoFit/>
          </a:bodyPr>
          <a:lstStyle/>
          <a:p>
            <a:pPr lvl="0"/>
            <a:r>
              <a:rPr lang="en-US" sz="1000"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https://github.com/awspark00/DemoDaze</a:t>
            </a:r>
          </a:p>
        </p:txBody>
      </p:sp>
      <p:cxnSp>
        <p:nvCxnSpPr>
          <p:cNvPr id="4" name="Straight Connector 3">
            <a:extLst>
              <a:ext uri="{FF2B5EF4-FFF2-40B4-BE49-F238E27FC236}">
                <a16:creationId xmlns:a16="http://schemas.microsoft.com/office/drawing/2014/main" id="{F1C304DB-7EBD-23B1-447F-F3FACEC6E266}"/>
              </a:ext>
            </a:extLst>
          </p:cNvPr>
          <p:cNvCxnSpPr>
            <a:cxnSpLocks/>
          </p:cNvCxnSpPr>
          <p:nvPr/>
        </p:nvCxnSpPr>
        <p:spPr>
          <a:xfrm>
            <a:off x="228600" y="8106823"/>
            <a:ext cx="7315200" cy="0"/>
          </a:xfrm>
          <a:prstGeom prst="line">
            <a:avLst/>
          </a:prstGeom>
          <a:ln w="152400">
            <a:solidFill>
              <a:srgbClr val="5D36B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364441"/>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af57dd3-c7a8-417e-98b8-90248abe0734" xsi:nil="true"/>
    <lcf76f155ced4ddcb4097134ff3c332f xmlns="da37491f-17e8-4aa4-b8b2-c9e92f566c2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46C364D405574AA4D6EC8759B61766" ma:contentTypeVersion="11" ma:contentTypeDescription="Create a new document." ma:contentTypeScope="" ma:versionID="e3ab32b59c0067f700f289c585af2500">
  <xsd:schema xmlns:xsd="http://www.w3.org/2001/XMLSchema" xmlns:xs="http://www.w3.org/2001/XMLSchema" xmlns:p="http://schemas.microsoft.com/office/2006/metadata/properties" xmlns:ns2="da37491f-17e8-4aa4-b8b2-c9e92f566c24" xmlns:ns3="3af57dd3-c7a8-417e-98b8-90248abe0734" targetNamespace="http://schemas.microsoft.com/office/2006/metadata/properties" ma:root="true" ma:fieldsID="1e56e08a026d9eb8d2ba46f5f2a763c4" ns2:_="" ns3:_="">
    <xsd:import namespace="da37491f-17e8-4aa4-b8b2-c9e92f566c24"/>
    <xsd:import namespace="3af57dd3-c7a8-417e-98b8-90248abe073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37491f-17e8-4aa4-b8b2-c9e92f566c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7839dc8-c537-42b6-a5a9-a537040d25b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af57dd3-c7a8-417e-98b8-90248abe073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2709d1e-838a-4d83-b26c-9f7407000842}" ma:internalName="TaxCatchAll" ma:showField="CatchAllData" ma:web="3af57dd3-c7a8-417e-98b8-90248abe073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722DB1-33BE-4677-B423-644C7E005BAF}">
  <ds:schemaRefs>
    <ds:schemaRef ds:uri="http://schemas.microsoft.com/office/2006/metadata/properties"/>
    <ds:schemaRef ds:uri="http://schemas.microsoft.com/office/infopath/2007/PartnerControls"/>
    <ds:schemaRef ds:uri="3af57dd3-c7a8-417e-98b8-90248abe0734"/>
    <ds:schemaRef ds:uri="da37491f-17e8-4aa4-b8b2-c9e92f566c24"/>
  </ds:schemaRefs>
</ds:datastoreItem>
</file>

<file path=customXml/itemProps2.xml><?xml version="1.0" encoding="utf-8"?>
<ds:datastoreItem xmlns:ds="http://schemas.openxmlformats.org/officeDocument/2006/customXml" ds:itemID="{7B636590-2B19-4656-A1B2-548552020A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37491f-17e8-4aa4-b8b2-c9e92f566c24"/>
    <ds:schemaRef ds:uri="3af57dd3-c7a8-417e-98b8-90248abe07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92C382-42C7-4BF1-998A-60BB6D3798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36635</TotalTime>
  <Words>680</Words>
  <Application>Microsoft Office PowerPoint</Application>
  <PresentationFormat>Custom</PresentationFormat>
  <Paragraphs>24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Amazon Ember</vt:lpstr>
      <vt:lpstr>Amazon Ember Heavy</vt:lpstr>
      <vt:lpstr>Arial</vt:lpstr>
      <vt:lpstr>Calibri</vt:lpstr>
      <vt:lpstr>Calibri Light</vt: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Francois Patricot</dc:creator>
  <cp:lastModifiedBy>Park, Austin</cp:lastModifiedBy>
  <cp:revision>483</cp:revision>
  <dcterms:created xsi:type="dcterms:W3CDTF">2018-05-29T22:25:03Z</dcterms:created>
  <dcterms:modified xsi:type="dcterms:W3CDTF">2026-01-05T13:42:40Z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2025-12-04T21:46:53Z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ba586c13-436d-4dc0-8db0-28d5963f2379</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y fmtid="{D5CDD505-2E9C-101B-9397-08002B2CF9AE}" pid="10" name="ContentTypeId">
    <vt:lpwstr>0x0101003346C364D405574AA4D6EC8759B61766</vt:lpwstr>
  </property>
  <property fmtid="{D5CDD505-2E9C-101B-9397-08002B2CF9AE}" pid="11" name="MediaServiceImageTags">
    <vt:lpwstr/>
  </property>
</Properties>
</file>